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7CD1FF"/>
                </a:solidFill>
                <a:latin typeface="Menlo"/>
              </a:rPr>
              <a:t>ЗАНЯТТЯ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6800" b="1">
                <a:solidFill>
                  <a:srgbClr val="E6E8EC"/>
                </a:solidFill>
                <a:latin typeface="Helvetica Neue"/>
              </a:rPr>
              <a:t>MLOps &amp; AIOps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6800" b="1">
                <a:solidFill>
                  <a:srgbClr val="7CD1FF"/>
                </a:solidFill>
                <a:latin typeface="Helvetica Neue"/>
              </a:rPr>
              <a:t>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9AA3AD"/>
                </a:solidFill>
                <a:latin typeface="Helvetica Neue"/>
              </a:rPr>
              <a:t>Як підтримувати ML/AI системи в продакшні: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9AA3AD"/>
                </a:solidFill>
                <a:latin typeface="Helvetica Neue"/>
              </a:rPr>
              <a:t>training pipelines, deployment, monitoring, drift, incidents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Курс AI Engineering · Білоус Андрій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10 секцій · ML Lifecycle · CI/CD · Drift Detection · AIOps · Incident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ЩО БУДЕ НА ЛЕКЦІЇ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10 секцій з інтерактивними демо у HTML версії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2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Що таке MLOps та AIOps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7452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DevOps vs MLOps vs LLMOps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6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ML Lifecycle — повний цикл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2316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MLOps Stack — інструменти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97180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CI/CD для 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92608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97180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Monitoring &amp; Drift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F7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2044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AIOps — AI for IT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47472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52044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Incident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233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6908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Метрики MLOps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457200" cy="36576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0B0D10"/>
                </a:solidFill>
                <a:latin typeface="Menlo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069080"/>
            <a:ext cx="4709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E6E8EC"/>
                </a:solidFill>
                <a:latin typeface="Helvetica Neue"/>
              </a:rPr>
              <a:t>Pitfalls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ЩО ТАКЕ MLOPS ТА AIOPS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Натренувати модель — це 10% роботи. 90% — підтримати її в продакшні.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92024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38528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🛠  MLOps — Machine Learning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86000"/>
            <a:ext cx="512064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Practices + tools для життєвого циклу ML:
data → train → deploy → monitor → retrain.
Аналог DevOps з додатковими рівнями: version data, version models, monitor drift, manage experiments.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4864" cy="192024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38528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🤖  AIOps — AI for IT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286000"/>
            <a:ext cx="512064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Використання ML/AI ДЛЯ моніторингу і керування інфраструктурою.
Anomaly detection у логах, root cause analysis, incident prediction, auto-remediation.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ЧОМУ 'ПРОСТО DEVOPS' НЕ ВИСТАЧАЄ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4864" cy="155448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54456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Models silently degrade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892040"/>
            <a:ext cx="342900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accuracy 91→73% за місяць — без помилок у логах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43484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4434840"/>
            <a:ext cx="54864" cy="155448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454456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Reproducibility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892040"/>
            <a:ext cx="342900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тренували 3 міс тому — train data, libs, hyperparams не збережено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43484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434840"/>
            <a:ext cx="54864" cy="1554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54456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Train/serve skew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892040"/>
            <a:ext cx="3429000" cy="10515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feature pipeline у train ≠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DEVOPS VS MLOPS VS LLMOPS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Три різні дисципліни з різними артефактами, тестами і failure modes.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54864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6E8EC"/>
                </a:solidFill>
                <a:latin typeface="Helvetica Neue"/>
              </a:rPr>
              <a:t>🛠 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Артефакти: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код, контейнери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Тести: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0896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unit, integration, 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Версіонування: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Deploy: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11480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blue/green, canary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Моніторинг: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177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latency, errors,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Failure mode: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1206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exception, 500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8288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828800"/>
            <a:ext cx="3657600" cy="54864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20116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6E8EC"/>
                </a:solidFill>
                <a:latin typeface="Helvetica Neue"/>
              </a:rPr>
              <a:t>📊  MLOps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Артефакти: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6060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код + дані + модель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108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Тести: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10896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data validation, model perf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611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Версіонування: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Git + DVC + MLflow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114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Deploy: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11480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shadow, A/B, champion-challenger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617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Моніторинг: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6177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+ accuracy, drift, bias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206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Failure mode: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1206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silent degradation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182880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1828800"/>
            <a:ext cx="36576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01168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E6E8EC"/>
                </a:solidFill>
                <a:latin typeface="Helvetica Neue"/>
              </a:rPr>
              <a:t>🤖  LLMOps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6060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Артефакти: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26060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prompts + RAG +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3108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Тести: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10896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eval sets, LLM-judge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6118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Версіонування: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36118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prompt registry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114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Deploy: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11480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feature flags, prompt A/B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461772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Моніторинг: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6177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hallucinations, токени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1206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AA3AD"/>
                </a:solidFill>
                <a:latin typeface="Helvetica Neue"/>
              </a:rPr>
              <a:t>Failure mode: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512064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E6E8EC"/>
                </a:solidFill>
                <a:latin typeface="Helvetica Neue"/>
              </a:rPr>
              <a:t>впевнено невірна відповідь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ML LIFECYCLE — ПОВНИЙ ЦИКЛ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Це не 'стрілочка' — це безкінечний цикл. Як тільки модель в проді, починається monitor → drift → retrain.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1737360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7C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📥
</a:t>
            </a:r>
            <a:r>
              <a:rPr sz="1100" b="1">
                <a:solidFill>
                  <a:srgbClr val="E6E8EC"/>
                </a:solidFill>
                <a:latin typeface="Menlo"/>
              </a:rPr>
              <a:t>DATA</a:t>
            </a:r>
          </a:p>
        </p:txBody>
      </p:sp>
      <p:sp>
        <p:nvSpPr>
          <p:cNvPr id="9" name="Oval 8"/>
          <p:cNvSpPr/>
          <p:nvPr/>
        </p:nvSpPr>
        <p:spPr>
          <a:xfrm>
            <a:off x="4522117" y="2606041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C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🏋️
</a:t>
            </a:r>
            <a:r>
              <a:rPr sz="1100" b="1">
                <a:solidFill>
                  <a:srgbClr val="E6E8EC"/>
                </a:solidFill>
                <a:latin typeface="Menlo"/>
              </a:rPr>
              <a:t>TRAIN</a:t>
            </a:r>
          </a:p>
        </p:txBody>
      </p:sp>
      <p:sp>
        <p:nvSpPr>
          <p:cNvPr id="10" name="Oval 9"/>
          <p:cNvSpPr/>
          <p:nvPr/>
        </p:nvSpPr>
        <p:spPr>
          <a:xfrm>
            <a:off x="4522117" y="4343399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9BE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🚀
</a:t>
            </a:r>
            <a:r>
              <a:rPr sz="1100" b="1">
                <a:solidFill>
                  <a:srgbClr val="E6E8EC"/>
                </a:solidFill>
                <a:latin typeface="Menlo"/>
              </a:rPr>
              <a:t>DEPLOY</a:t>
            </a:r>
          </a:p>
        </p:txBody>
      </p:sp>
      <p:sp>
        <p:nvSpPr>
          <p:cNvPr id="11" name="Oval 10"/>
          <p:cNvSpPr/>
          <p:nvPr/>
        </p:nvSpPr>
        <p:spPr>
          <a:xfrm>
            <a:off x="3017520" y="5212080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📊
</a:t>
            </a:r>
            <a:r>
              <a:rPr sz="1100" b="1">
                <a:solidFill>
                  <a:srgbClr val="E6E8EC"/>
                </a:solidFill>
                <a:latin typeface="Menlo"/>
              </a:rPr>
              <a:t>MONITOR</a:t>
            </a:r>
          </a:p>
        </p:txBody>
      </p:sp>
      <p:sp>
        <p:nvSpPr>
          <p:cNvPr id="12" name="Oval 11"/>
          <p:cNvSpPr/>
          <p:nvPr/>
        </p:nvSpPr>
        <p:spPr>
          <a:xfrm>
            <a:off x="1512923" y="4343399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🔄
</a:t>
            </a:r>
            <a:r>
              <a:rPr sz="1100" b="1">
                <a:solidFill>
                  <a:srgbClr val="E6E8EC"/>
                </a:solidFill>
                <a:latin typeface="Menlo"/>
              </a:rPr>
              <a:t>FEEDBACK</a:t>
            </a:r>
          </a:p>
        </p:txBody>
      </p:sp>
      <p:sp>
        <p:nvSpPr>
          <p:cNvPr id="13" name="Oval 12"/>
          <p:cNvSpPr/>
          <p:nvPr/>
        </p:nvSpPr>
        <p:spPr>
          <a:xfrm>
            <a:off x="1512923" y="2606040"/>
            <a:ext cx="1280160" cy="1280160"/>
          </a:xfrm>
          <a:prstGeom prst="ellipse">
            <a:avLst/>
          </a:prstGeom>
          <a:solidFill>
            <a:srgbClr val="1D2127"/>
          </a:solidFill>
          <a:ln w="31750">
            <a:solidFill>
              <a:srgbClr val="7C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/>
              <a:t>📜
</a:t>
            </a:r>
            <a:r>
              <a:rPr sz="1100" b="1">
                <a:solidFill>
                  <a:srgbClr val="E6E8EC"/>
                </a:solidFill>
                <a:latin typeface="Menlo"/>
              </a:rPr>
              <a:t>GOVERN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404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>
                <a:solidFill>
                  <a:srgbClr val="9AA3AD"/>
                </a:solidFill>
                <a:latin typeface="Helvetica Neue"/>
              </a:rPr>
              <a:t>ML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16052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>
                <a:solidFill>
                  <a:srgbClr val="9AA3AD"/>
                </a:solidFill>
                <a:latin typeface="Menlo"/>
              </a:rPr>
              <a:t>↻ continuous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828800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54864" cy="6858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1874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74520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Збір, валідація, версіонування. Lineage. Schema validation. DVC, Great Expectations.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2542032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0" y="2542032"/>
            <a:ext cx="54864" cy="68580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587752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C79BFF"/>
                </a:solidFill>
                <a:latin typeface="Menlo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87752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Експерименти: code git hash, dataset hash, metrics. MLflow, W&amp;B. Reproducibility.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255264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255264"/>
            <a:ext cx="54864" cy="6858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3300984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BE37C"/>
                </a:solidFill>
                <a:latin typeface="Menlo"/>
              </a:rP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300984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Model registry. Canary, shadow mode, A/B. Auto-rollback на degradation.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968496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3968496"/>
            <a:ext cx="54864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014216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enlo"/>
              </a:rPr>
              <a:t>MONITOR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14216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Performance, drift, fairness. Per-model alerts. Evidently, Arize.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681728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4681728"/>
            <a:ext cx="54864" cy="685800"/>
          </a:xfrm>
          <a:prstGeom prst="rect">
            <a:avLst/>
          </a:prstGeom>
          <a:solidFill>
            <a:srgbClr val="FF7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4727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7EB6"/>
                </a:solidFill>
                <a:latin typeface="Menlo"/>
              </a:rPr>
              <a:t>FEEDBACK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27448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Labeled data з prod. Retrain trigger: schedule або drift-based. Active learning.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5394960"/>
            <a:ext cx="4937760" cy="685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5394960"/>
            <a:ext cx="54864" cy="6858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GOVERN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440680"/>
            <a:ext cx="33832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Model cards, audit trail, fairness reports. Critical у banking/healthcare.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MLOPS STACK — ІНСТРУМЕНТИ ЗА РІВНЯМИ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Стандартного стеку нема — є категорії. Стартап обере 3-4, enterprise — 10+.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73152" cy="4572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📥 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4708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DVC, LakeFS, Great Expectations, S3, BigQuery, Kafka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73152" cy="4572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5000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🔧 Feature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5000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Feast, Tecton, Hopsworks — розв'язує train/serve skew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88920"/>
            <a:ext cx="73152" cy="45720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5292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🧪 Experiment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5292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MLflow, Weights &amp; Biases, Neptune, Comet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73152" cy="45720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5584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📦 Model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35584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MLflow Registry, SageMaker Registry, BentoML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9476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73152" cy="4572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5876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🚀 Serving /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5876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BentoML, KServe, Seldon, Triton, Vertex AI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9768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6168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⚙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36168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Airflow, Prefect, Dagster, Kubeflow, Metaflow, Flyte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0060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800600"/>
            <a:ext cx="73152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6460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📊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86460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Evidently, Arize, WhyLabs, Fiddler · LLM: Langfuse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0352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303520"/>
            <a:ext cx="73152" cy="457200"/>
          </a:xfrm>
          <a:prstGeom prst="rect">
            <a:avLst/>
          </a:prstGeom>
          <a:solidFill>
            <a:srgbClr val="FF7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6752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🏷 Labeling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36752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Label Studio, Snorkel, Argilla, Scale 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06440"/>
            <a:ext cx="11247120" cy="4572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73152" cy="457200"/>
          </a:xfrm>
          <a:prstGeom prst="rect">
            <a:avLst/>
          </a:prstGeom>
          <a:solidFill>
            <a:srgbClr val="FF7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7044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📜 Governance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870448"/>
            <a:ext cx="7772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OpenLineage, DataHub, Amundsen — audit, model 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Startup MVP: Git + DVC + MLflow + FastAPI + Prometheus.   Mid-stage: + Airflow + Evidently + Feast.   Enterprise: SageMaker / Vertex full suite + Tecton + Arize.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CI/CD ДЛЯ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Звичайний CI: код → тести → deploy. ML: + data validation + model tests + fairness + shadow → deploy.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40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7C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40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40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Lint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015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244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7CD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244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244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Data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319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548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C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548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🏋️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548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23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852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C7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852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852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Eval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927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156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156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Fairness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231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0460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9BE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0460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460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Shadow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535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764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9BE3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6764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764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Canary 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48391" y="2423160"/>
            <a:ext cx="9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9AA3AD"/>
                </a:solidFill>
                <a:latin typeface="Helvetica Neue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30687" y="1920240"/>
            <a:ext cx="1371600" cy="1463040"/>
          </a:xfrm>
          <a:prstGeom prst="roundRect">
            <a:avLst>
              <a:gd name="adj" fmla="val 10000"/>
            </a:avLst>
          </a:prstGeom>
          <a:solidFill>
            <a:srgbClr val="1D2127"/>
          </a:solidFill>
          <a:ln w="25400">
            <a:solidFill>
              <a:srgbClr val="FF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30687" y="214884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0">
                <a:solidFill>
                  <a:srgbClr val="E6E8EC"/>
                </a:solidFill>
                <a:latin typeface="Helvetica Neue"/>
              </a:rPr>
              <a:t>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0687" y="2697480"/>
            <a:ext cx="1371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>
                <a:solidFill>
                  <a:srgbClr val="E6E8EC"/>
                </a:solidFill>
                <a:latin typeface="Helvetica Neue"/>
              </a:rPr>
              <a:t>Roll-out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DEPLOYMENT STRATEGIES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54864" cy="13716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40740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Shadow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Нова модель отримує prod traffic, але виходи не повертаються.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4297680"/>
            <a:ext cx="54864" cy="13716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47872" y="440740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Canary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5% → 25% → 50% → 100%. Auto-rollback на degradation.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4297680"/>
            <a:ext cx="54864" cy="137160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40740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Champion-Challenger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Champion обслуговує 80%, challenger 20%. Бізнес-метрики через тиждень.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4297680"/>
            <a:ext cx="2743200" cy="13716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35440" y="4297680"/>
            <a:ext cx="54864" cy="13716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00032" y="4407408"/>
            <a:ext cx="24688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Blue-Green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00032" y="4754880"/>
            <a:ext cx="2468880" cy="868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Дві ідентичні інфраструктури. Перемикання traffic — швидкий rollback.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MONITORING &amp; DRIFT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Сервіс зеленый, errors=0, а accuracy впала на 18% за місяць. Без drift detection не побачиш.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28016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3852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Data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8600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Distribution input features змінилася. P(X) у проді ≠ P(X) на трейні.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54864" cy="128016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93852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Concept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28600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Зв'язок X→Y змінився. Найскладніший вид. Covid → люди купують маски.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54864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3852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Label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8600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Distribution Y шифтиться. Fraud rate 1% → 5%. Class imbalance.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54864" cy="1280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5584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Prediction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70332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Output моделі шифтиться. Сигнал до того як упала accuracy.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24612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246120"/>
            <a:ext cx="54864" cy="128016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35584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Schema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70332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Поле зникло, тип змінився. Ламає pipeline. Great Expectations ловить.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4612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246120"/>
            <a:ext cx="54864" cy="128016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355848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Performance drift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703320"/>
            <a:ext cx="338328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Latency p95 ↑ через більший batch або складніший feature 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STATISTICAL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Kolmogorov-Smirnov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21208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Numeric features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212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Distributions: p-value &lt; 0.05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21208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PSI (Population Stability)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21208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Categorical/binned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5212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PSI &gt; 0.20 → шифт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Jensen-Shannon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577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Distributions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5577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0 = identical, 1 = різні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57784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Wasserstein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577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Continuous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577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Earth mover's distance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AIOPS — AI FOR IT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Не 'ML моделі в проді' — це застосування ML до проблем DevOps/SRE.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82880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38528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🔍  Anomaly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8600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ML моделі (Isolation Forest, LSTM, Prophet) знаходять незвичайну поведінку у time series. Краще за статичні thresholds — адаптивні до seasonality.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" cy="182880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38528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🧠  Root Cause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8600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Service graph + correlation + log clustering показує '3 ймовірні причини'. Скорочує MTTR з 60 → 12 хвилин.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54864" cy="1828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904488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📈  Predictive Alerting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25196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Замість 'disk full at 95%' → 'disk filling, will be full in 2h'. Час реагувати proactively.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577840" cy="182880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54864" cy="182880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904488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🤖  Auto-remediation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251960"/>
            <a:ext cx="5303520" cy="1325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CDD5DE"/>
                </a:solidFill>
                <a:latin typeface="Helvetica Neue"/>
              </a:rPr>
              <a:t>Популярні incident patterns → автоматичні runbooks: scale up, restart, rollback, failover.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3AD"/>
                </a:solidFill>
                <a:latin typeface="Helvetica Neue"/>
              </a:rPr>
              <a:t>TOOLS:  Datadog Watchdog · New Relic AI · Dynatrace Davis · BigPanda · Moogsoft · PagerDuty AIOps · OSS: Prometheus + Cortex anomaly · Robusta для k8s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INCIDENT RESPONSE ДЛЯ ML/AI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ML інциденти інші: 'Сервіс не падає, але результати шкідливі'. Hallucination, bias, data poisoning.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РЕАЛЬНИЙ ІНЦИДЕНТ — accuracy drop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14:02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" y="2377440"/>
            <a:ext cx="164592" cy="164592"/>
          </a:xfrm>
          <a:prstGeom prst="ellipse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28600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7676"/>
                </a:solidFill>
                <a:latin typeface="Menlo"/>
              </a:rPr>
              <a:t>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28600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Evidently detected accuracy 0.91 → 0.74 over 6h. Latency normal.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14:05</a:t>
            </a:r>
          </a:p>
        </p:txBody>
      </p:sp>
      <p:sp>
        <p:nvSpPr>
          <p:cNvPr id="14" name="Oval 13"/>
          <p:cNvSpPr/>
          <p:nvPr/>
        </p:nvSpPr>
        <p:spPr>
          <a:xfrm>
            <a:off x="1325880" y="2926080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83464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FFD166"/>
                </a:solidFill>
                <a:latin typeface="Menlo"/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83464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Prediction shift: class A 30% → 65%. Feature 'user_segment' має новий enum 'premium_v2'.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14:11</a:t>
            </a:r>
          </a:p>
        </p:txBody>
      </p:sp>
      <p:sp>
        <p:nvSpPr>
          <p:cNvPr id="18" name="Oval 17"/>
          <p:cNvSpPr/>
          <p:nvPr/>
        </p:nvSpPr>
        <p:spPr>
          <a:xfrm>
            <a:off x="1325880" y="3474720"/>
            <a:ext cx="164592" cy="164592"/>
          </a:xfrm>
          <a:prstGeom prst="ellipse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38328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Investigate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Product team деплой 2 дні тому — нова preview group. Не у train set.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14:18</a:t>
            </a:r>
          </a:p>
        </p:txBody>
      </p:sp>
      <p:sp>
        <p:nvSpPr>
          <p:cNvPr id="22" name="Oval 21"/>
          <p:cNvSpPr/>
          <p:nvPr/>
        </p:nvSpPr>
        <p:spPr>
          <a:xfrm>
            <a:off x="1325880" y="4023360"/>
            <a:ext cx="164592" cy="164592"/>
          </a:xfrm>
          <a:prstGeom prst="ellipse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93192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7CD1FF"/>
                </a:solidFill>
                <a:latin typeface="Menlo"/>
              </a:rPr>
              <a:t>Mitigate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3192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Rollback моделі до v2.3 без feature. Accuracy 0.85, не 0.91. Trigger emergency retrain.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14:25</a:t>
            </a:r>
          </a:p>
        </p:txBody>
      </p:sp>
      <p:sp>
        <p:nvSpPr>
          <p:cNvPr id="26" name="Oval 25"/>
          <p:cNvSpPr/>
          <p:nvPr/>
        </p:nvSpPr>
        <p:spPr>
          <a:xfrm>
            <a:off x="1325880" y="4572000"/>
            <a:ext cx="164592" cy="164592"/>
          </a:xfrm>
          <a:prstGeom prst="ellipse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4805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BE37C"/>
                </a:solidFill>
                <a:latin typeface="Menlo"/>
              </a:rPr>
              <a:t>Resolve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48056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Production back to 0.85. Retrain pipeline running, ETA 4h.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731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3AD"/>
                </a:solidFill>
                <a:latin typeface="Menlo"/>
              </a:rPr>
              <a:t>19:30</a:t>
            </a:r>
          </a:p>
        </p:txBody>
      </p:sp>
      <p:sp>
        <p:nvSpPr>
          <p:cNvPr id="30" name="Oval 29"/>
          <p:cNvSpPr/>
          <p:nvPr/>
        </p:nvSpPr>
        <p:spPr>
          <a:xfrm>
            <a:off x="1325880" y="5120640"/>
            <a:ext cx="164592" cy="164592"/>
          </a:xfrm>
          <a:prstGeom prst="ellipse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02920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1">
                <a:solidFill>
                  <a:srgbClr val="9BE37C"/>
                </a:solidFill>
                <a:latin typeface="Menlo"/>
              </a:rPr>
              <a:t>Postmortem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02920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E6E8EC"/>
                </a:solidFill>
                <a:latin typeface="Helvetica Neue"/>
              </a:rPr>
              <a:t>v2.5 deployed, accuracy 0.92. Action: data validation alert на новий enum value.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MLOPS МЕТРИКИ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Три рівні: business, model, infrastructure. Без перших — оптимізуєш не те.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20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MODEL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9456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9BE37C"/>
                </a:solidFill>
                <a:latin typeface="Menlo"/>
              </a:rPr>
              <a:t>0.91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9748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7-day rolling, target ≥ 0.85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920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DRIFT (PSI)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19456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enlo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9748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threshold 0.20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920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INFERENCE P95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19456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7CD1FF"/>
                </a:solidFill>
                <a:latin typeface="Menlo"/>
              </a:rPr>
              <a:t>142ms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69748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SLO &lt; 200ms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9202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19456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9BE37C"/>
                </a:solidFill>
                <a:latin typeface="Menlo"/>
              </a:rPr>
              <a:t>1.2K/s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69748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predictions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2004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7CD1FF"/>
                </a:solidFill>
                <a:latin typeface="Menlo"/>
              </a:rPr>
              <a:t>98.4%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9776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rows passing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1089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32004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FEATURE FRESHNESS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D166"/>
                </a:solidFill>
                <a:latin typeface="Menlo"/>
              </a:rPr>
              <a:t>3.2h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39776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lag, target &lt; 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1089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2004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RETRAIN CADENCE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9BE37C"/>
                </a:solidFill>
                <a:latin typeface="Menlo"/>
              </a:rPr>
              <a:t>7d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9776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on schedule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1089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20040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9AA3AD"/>
                </a:solidFill>
                <a:latin typeface="Menlo"/>
              </a:rPr>
              <a:t>FAILED PIPELINES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3474720"/>
            <a:ext cx="246888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F7676"/>
                </a:solidFill>
                <a:latin typeface="Menl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0032" y="3977640"/>
            <a:ext cx="24688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last 24h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КАТЕГОРІЇ МЕТРИК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377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37760"/>
            <a:ext cx="54864" cy="1463040"/>
          </a:xfrm>
          <a:prstGeom prst="rect">
            <a:avLst/>
          </a:prstGeom>
          <a:solidFill>
            <a:srgbClr val="FF7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04748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💼 Business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394960"/>
            <a:ext cx="3429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Revenue uplift, churn, fraud savings — заради чого існує модель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49377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937760"/>
            <a:ext cx="54864" cy="1463040"/>
          </a:xfrm>
          <a:prstGeom prst="rect">
            <a:avLst/>
          </a:prstGeom>
          <a:solidFill>
            <a:srgbClr val="C7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504748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📊 Model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7992" y="5394960"/>
            <a:ext cx="3429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Accuracy, F1, AUC · LLM: hallucination rate, faithfulness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4937760"/>
            <a:ext cx="3703320" cy="146304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4937760"/>
            <a:ext cx="54864" cy="146304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5047488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E6E8EC"/>
                </a:solidFill>
                <a:latin typeface="Helvetica Neue"/>
              </a:rPr>
              <a:t>⚙ Infra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5394960"/>
            <a:ext cx="3429000" cy="9601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P95 latency, throughput, GPU util, $ per 1K predictions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2918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0B0D10"/>
                </a:solidFill>
                <a:latin typeface="Menl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E6E8EC"/>
                </a:solidFill>
                <a:latin typeface="Helvetica Neue"/>
              </a:rPr>
              <a:t>PITFALLS — ЩО ЧАСТО ЛАМАЄТЬСЯ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3AD"/>
                </a:solidFill>
                <a:latin typeface="Helvetica Neue"/>
              </a:rPr>
              <a:t>90% фейлів MLOps — не технічні, а організаційні.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365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0D10"/>
                </a:solidFill>
                <a:latin typeface="Menl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73152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9280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Деплоїмо коли модель готова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945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А потім три місяці нічого. Model rotting.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54864" cy="73152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9280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Train/serve skew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9456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Pandas у train, SQL у serving. Feature store обов'язковий.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54864" cy="73152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1576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Немає data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01752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Pipeline ламається коли schema змінилась.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54864" cy="731520"/>
          </a:xfrm>
          <a:prstGeom prst="rect">
            <a:avLst/>
          </a:prstGeom>
          <a:solidFill>
            <a:srgbClr val="FF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71576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Notebook → prod direct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01752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Жоден тест не пройшов. Config у комірках.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7472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53872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Один моніторинг для всіх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840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Generic dashboard, нічого не зрозуміло.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47472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474720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53872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Без data lineage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8404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'Звідки ця колонка?' — ніхто не знає.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29768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297680"/>
            <a:ext cx="54864" cy="7315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36168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Retrain без trigger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4663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'Кожен понеділок' — навіть коли drift = 0.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97680"/>
            <a:ext cx="5577840" cy="73152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297680"/>
            <a:ext cx="54864" cy="73152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361688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E6E8EC"/>
                </a:solidFill>
                <a:latin typeface="Helvetica Neue"/>
              </a:rPr>
              <a:t>Vendor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66344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CDD5DE"/>
                </a:solidFill>
                <a:latin typeface="Helvetica Neue"/>
              </a:rPr>
              <a:t>Усе на SageMaker → не можна перейти.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3AD"/>
                </a:solidFill>
                <a:latin typeface="Menlo"/>
              </a:rPr>
              <a:t>GOOGLE MLOPS MATURITY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52160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852160"/>
            <a:ext cx="54864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" y="5925312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FFD166"/>
                </a:solidFill>
                <a:latin typeface="Menlo"/>
              </a:rPr>
              <a:t>Level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236208"/>
            <a:ext cx="3429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E6E8EC"/>
                </a:solidFill>
                <a:latin typeface="Helvetica Neue"/>
              </a:rPr>
              <a:t>Manual: notebook → серіалізація. Деплой раз на місяць. (стартап)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43400" y="5852160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5852160"/>
            <a:ext cx="54864" cy="822960"/>
          </a:xfrm>
          <a:prstGeom prst="rect">
            <a:avLst/>
          </a:prstGeom>
          <a:solidFill>
            <a:srgbClr val="9BE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5925312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9BE37C"/>
                </a:solidFill>
                <a:latin typeface="Menlo"/>
              </a:rPr>
              <a:t>Level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7992" y="6236208"/>
            <a:ext cx="3429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E6E8EC"/>
                </a:solidFill>
                <a:latin typeface="Helvetica Neue"/>
              </a:rPr>
              <a:t>ML pipeline automation. Auto-retrain. Feature store. (mid-stage)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0" y="5852160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D2127"/>
          </a:solidFill>
          <a:ln w="12700">
            <a:solidFill>
              <a:srgbClr val="2A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600" y="5852160"/>
            <a:ext cx="54864" cy="822960"/>
          </a:xfrm>
          <a:prstGeom prst="rect">
            <a:avLst/>
          </a:prstGeom>
          <a:solidFill>
            <a:srgbClr val="7CD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5925312"/>
            <a:ext cx="3429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7CD1FF"/>
                </a:solidFill>
                <a:latin typeface="Menlo"/>
              </a:rPr>
              <a:t>Level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6236208"/>
            <a:ext cx="3429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E6E8EC"/>
                </a:solidFill>
                <a:latin typeface="Helvetica Neue"/>
              </a:rPr>
              <a:t>Full CI/CD. Multi-model. Governance. (enterprise)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9AA3AD"/>
                </a:solidFill>
                <a:latin typeface="Helvetica Neue"/>
              </a:rPr>
              <a:t>Lesson 12 · MLOps &amp; AIOps Foundations · AI Engineering Course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9AA3AD"/>
                </a:solidFill>
                <a:latin typeface="Menlo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